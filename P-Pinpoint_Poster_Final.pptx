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20" d="100"/>
          <a:sy n="120" d="100"/>
        </p:scale>
        <p:origin x="28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21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73" y="192024"/>
            <a:ext cx="12126331" cy="896112"/>
          </a:xfrm>
          <a:prstGeom prst="rect">
            <a:avLst/>
          </a:prstGeom>
          <a:solidFill>
            <a:srgbClr val="12171F"/>
          </a:solidFill>
          <a:ln w="12700">
            <a:solidFill>
              <a:srgbClr val="1217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10896" y="164592"/>
            <a:ext cx="121920" cy="576072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21208" y="164592"/>
            <a:ext cx="82296" cy="576072"/>
          </a:xfrm>
          <a:prstGeom prst="rect">
            <a:avLst/>
          </a:prstGeom>
          <a:solidFill>
            <a:srgbClr val="1F8F54"/>
          </a:solidFill>
          <a:ln w="12700">
            <a:solidFill>
              <a:srgbClr val="1F8F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146304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P-Pinpoint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98810" y="214884"/>
            <a:ext cx="4846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Business Location Intelligence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576072"/>
            <a:ext cx="64465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county-level recommendations from natural-language business needs and public economic data.</a:t>
            </a:r>
            <a:endParaRPr lang="en-US" sz="950" b="1" dirty="0"/>
          </a:p>
        </p:txBody>
      </p:sp>
      <p:sp>
        <p:nvSpPr>
          <p:cNvPr id="8" name="Shape 6"/>
          <p:cNvSpPr/>
          <p:nvPr/>
        </p:nvSpPr>
        <p:spPr>
          <a:xfrm>
            <a:off x="8915400" y="182880"/>
            <a:ext cx="557784" cy="411480"/>
          </a:xfrm>
          <a:prstGeom prst="roundRect">
            <a:avLst/>
          </a:prstGeom>
          <a:solidFill>
            <a:srgbClr val="12171F"/>
          </a:solidFill>
          <a:ln w="1397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915400" y="228600"/>
            <a:ext cx="5577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51976" y="411480"/>
            <a:ext cx="4846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460" dirty="0"/>
          </a:p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460" dirty="0"/>
          </a:p>
        </p:txBody>
      </p:sp>
      <p:sp>
        <p:nvSpPr>
          <p:cNvPr id="11" name="Shape 9"/>
          <p:cNvSpPr/>
          <p:nvPr/>
        </p:nvSpPr>
        <p:spPr>
          <a:xfrm>
            <a:off x="9573768" y="182880"/>
            <a:ext cx="557784" cy="411480"/>
          </a:xfrm>
          <a:prstGeom prst="roundRect">
            <a:avLst/>
          </a:prstGeom>
          <a:solidFill>
            <a:srgbClr val="12171F"/>
          </a:solidFill>
          <a:ln w="1397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573768" y="228600"/>
            <a:ext cx="5577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10344" y="411480"/>
            <a:ext cx="4846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460" dirty="0"/>
          </a:p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460" dirty="0"/>
          </a:p>
        </p:txBody>
      </p:sp>
      <p:sp>
        <p:nvSpPr>
          <p:cNvPr id="14" name="Shape 12"/>
          <p:cNvSpPr/>
          <p:nvPr/>
        </p:nvSpPr>
        <p:spPr>
          <a:xfrm>
            <a:off x="10232136" y="182880"/>
            <a:ext cx="557784" cy="411480"/>
          </a:xfrm>
          <a:prstGeom prst="roundRect">
            <a:avLst/>
          </a:prstGeom>
          <a:solidFill>
            <a:srgbClr val="12171F"/>
          </a:solidFill>
          <a:ln w="1397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32136" y="228600"/>
            <a:ext cx="5577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68712" y="420177"/>
            <a:ext cx="4846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460" dirty="0"/>
          </a:p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10890504" y="182880"/>
            <a:ext cx="557784" cy="411480"/>
          </a:xfrm>
          <a:prstGeom prst="roundRect">
            <a:avLst/>
          </a:prstGeom>
          <a:solidFill>
            <a:srgbClr val="12171F"/>
          </a:solidFill>
          <a:ln w="1397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890504" y="228600"/>
            <a:ext cx="5577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22508" y="405533"/>
            <a:ext cx="4846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460" dirty="0"/>
          </a:p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460" dirty="0"/>
          </a:p>
        </p:txBody>
      </p:sp>
      <p:sp>
        <p:nvSpPr>
          <p:cNvPr id="20" name="Shape 18"/>
          <p:cNvSpPr/>
          <p:nvPr/>
        </p:nvSpPr>
        <p:spPr>
          <a:xfrm>
            <a:off x="11548872" y="182880"/>
            <a:ext cx="557784" cy="411480"/>
          </a:xfrm>
          <a:prstGeom prst="roundRect">
            <a:avLst/>
          </a:prstGeom>
          <a:solidFill>
            <a:srgbClr val="12171F"/>
          </a:solidFill>
          <a:ln w="1397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1548872" y="228600"/>
            <a:ext cx="5577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85448" y="411480"/>
            <a:ext cx="48463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460" dirty="0"/>
          </a:p>
          <a:p>
            <a:pPr marL="0" indent="0" algn="ctr">
              <a:buNone/>
            </a:pPr>
            <a:r>
              <a:rPr lang="en-US" sz="46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COUNTIES</a:t>
            </a:r>
            <a:endParaRPr lang="en-US" sz="460" dirty="0"/>
          </a:p>
        </p:txBody>
      </p:sp>
      <p:sp>
        <p:nvSpPr>
          <p:cNvPr id="23" name="Text 21"/>
          <p:cNvSpPr/>
          <p:nvPr/>
        </p:nvSpPr>
        <p:spPr>
          <a:xfrm>
            <a:off x="8820866" y="670211"/>
            <a:ext cx="2938318" cy="155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P-Pinpoint · github.com/KazumaOkada36/P-Pinpoint · 2026</a:t>
            </a:r>
            <a:endParaRPr lang="en-US" sz="700" b="1" dirty="0"/>
          </a:p>
        </p:txBody>
      </p:sp>
      <p:sp>
        <p:nvSpPr>
          <p:cNvPr id="24" name="Shape 22"/>
          <p:cNvSpPr/>
          <p:nvPr/>
        </p:nvSpPr>
        <p:spPr>
          <a:xfrm>
            <a:off x="0" y="877824"/>
            <a:ext cx="12191695" cy="50292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20624" y="1078992"/>
            <a:ext cx="2633472" cy="4590288"/>
          </a:xfrm>
          <a:prstGeom prst="rect">
            <a:avLst/>
          </a:prstGeom>
          <a:solidFill>
            <a:srgbClr val="151B24"/>
          </a:solidFill>
          <a:ln w="1016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46120" y="1078992"/>
            <a:ext cx="5440680" cy="5631524"/>
          </a:xfrm>
          <a:prstGeom prst="rect">
            <a:avLst/>
          </a:prstGeom>
          <a:solidFill>
            <a:srgbClr val="151B24"/>
          </a:solidFill>
          <a:ln w="1016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869680" y="1078992"/>
            <a:ext cx="2880360" cy="5440680"/>
          </a:xfrm>
          <a:prstGeom prst="rect">
            <a:avLst/>
          </a:prstGeom>
          <a:solidFill>
            <a:srgbClr val="151B24"/>
          </a:solidFill>
          <a:ln w="1016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03504" y="1271016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58952" y="1280160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96696" y="1243584"/>
            <a:ext cx="18928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758952" y="1536192"/>
            <a:ext cx="2039112" cy="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8368" y="1627632"/>
            <a:ext cx="222199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gap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658368" y="1847088"/>
            <a:ext cx="21762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signals—GDP, jobs, wages, taxes, competition—sit across five sources with different formats and vintages.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658368" y="2395728"/>
            <a:ext cx="222199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658368" y="2606040"/>
            <a:ext cx="21762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input → GPT-4o profile → county feature matrix → 8-dimension weighted score → ranked county explanations.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603504" y="3273552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58952" y="3282696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96696" y="3246120"/>
            <a:ext cx="18928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758952" y="3538728"/>
            <a:ext cx="2039112" cy="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03504" y="3657600"/>
            <a:ext cx="2267712" cy="1645920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03504" y="3657600"/>
            <a:ext cx="2267712" cy="274320"/>
          </a:xfrm>
          <a:prstGeom prst="rect">
            <a:avLst/>
          </a:prstGeom>
          <a:solidFill>
            <a:srgbClr val="09351E"/>
          </a:solidFill>
          <a:ln w="508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03504" y="3707892"/>
            <a:ext cx="8503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1453896" y="3707892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2020824" y="3707892"/>
            <a:ext cx="8503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603504" y="3931920"/>
            <a:ext cx="2267712" cy="274320"/>
          </a:xfrm>
          <a:prstGeom prst="rect">
            <a:avLst/>
          </a:prstGeom>
          <a:solidFill>
            <a:srgbClr val="161D27"/>
          </a:solidFill>
          <a:ln w="317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35508" y="397306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 CAGDP9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1485900" y="397306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counties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2001–24</a:t>
            </a:r>
            <a:endParaRPr lang="en-US" sz="530" dirty="0"/>
          </a:p>
        </p:txBody>
      </p:sp>
      <p:sp>
        <p:nvSpPr>
          <p:cNvPr id="48" name="Text 46"/>
          <p:cNvSpPr/>
          <p:nvPr/>
        </p:nvSpPr>
        <p:spPr>
          <a:xfrm>
            <a:off x="2052828" y="397306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× 23 ind.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5-yr CAGR</a:t>
            </a:r>
            <a:endParaRPr lang="en-US" sz="530" dirty="0"/>
          </a:p>
        </p:txBody>
      </p:sp>
      <p:sp>
        <p:nvSpPr>
          <p:cNvPr id="49" name="Shape 47"/>
          <p:cNvSpPr/>
          <p:nvPr/>
        </p:nvSpPr>
        <p:spPr>
          <a:xfrm>
            <a:off x="603504" y="4206240"/>
            <a:ext cx="2267712" cy="274320"/>
          </a:xfrm>
          <a:prstGeom prst="rect">
            <a:avLst/>
          </a:prstGeom>
          <a:solidFill>
            <a:srgbClr val="141A23"/>
          </a:solidFill>
          <a:ln w="317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35508" y="424738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LODES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1485900" y="424738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counties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530" dirty="0"/>
          </a:p>
        </p:txBody>
      </p:sp>
      <p:sp>
        <p:nvSpPr>
          <p:cNvPr id="52" name="Text 50"/>
          <p:cNvSpPr/>
          <p:nvPr/>
        </p:nvSpPr>
        <p:spPr>
          <a:xfrm>
            <a:off x="2052828" y="424738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Daytime jobs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 tiers</a:t>
            </a:r>
            <a:endParaRPr lang="en-US" sz="530" dirty="0"/>
          </a:p>
        </p:txBody>
      </p:sp>
      <p:sp>
        <p:nvSpPr>
          <p:cNvPr id="53" name="Shape 51"/>
          <p:cNvSpPr/>
          <p:nvPr/>
        </p:nvSpPr>
        <p:spPr>
          <a:xfrm>
            <a:off x="603504" y="4480560"/>
            <a:ext cx="2267712" cy="274320"/>
          </a:xfrm>
          <a:prstGeom prst="rect">
            <a:avLst/>
          </a:prstGeom>
          <a:solidFill>
            <a:srgbClr val="161D27"/>
          </a:solidFill>
          <a:ln w="317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35508" y="452170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CBP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1485900" y="452170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counties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530" dirty="0"/>
          </a:p>
        </p:txBody>
      </p:sp>
      <p:sp>
        <p:nvSpPr>
          <p:cNvPr id="56" name="Text 54"/>
          <p:cNvSpPr/>
          <p:nvPr/>
        </p:nvSpPr>
        <p:spPr>
          <a:xfrm>
            <a:off x="2052828" y="452170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Establishments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NAICS</a:t>
            </a:r>
            <a:endParaRPr lang="en-US" sz="530" dirty="0"/>
          </a:p>
        </p:txBody>
      </p:sp>
      <p:sp>
        <p:nvSpPr>
          <p:cNvPr id="57" name="Shape 55"/>
          <p:cNvSpPr/>
          <p:nvPr/>
        </p:nvSpPr>
        <p:spPr>
          <a:xfrm>
            <a:off x="603504" y="4754880"/>
            <a:ext cx="2267712" cy="274320"/>
          </a:xfrm>
          <a:prstGeom prst="rect">
            <a:avLst/>
          </a:prstGeom>
          <a:solidFill>
            <a:srgbClr val="141A23"/>
          </a:solidFill>
          <a:ln w="317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35508" y="479602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Foundation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1485900" y="479602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+ DC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530" dirty="0"/>
          </a:p>
        </p:txBody>
      </p:sp>
      <p:sp>
        <p:nvSpPr>
          <p:cNvPr id="60" name="Text 58"/>
          <p:cNvSpPr/>
          <p:nvPr/>
        </p:nvSpPr>
        <p:spPr>
          <a:xfrm>
            <a:off x="2052828" y="479602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corp.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rate</a:t>
            </a:r>
            <a:endParaRPr lang="en-US" sz="530" dirty="0"/>
          </a:p>
        </p:txBody>
      </p:sp>
      <p:sp>
        <p:nvSpPr>
          <p:cNvPr id="61" name="Shape 59"/>
          <p:cNvSpPr/>
          <p:nvPr/>
        </p:nvSpPr>
        <p:spPr>
          <a:xfrm>
            <a:off x="603504" y="5029200"/>
            <a:ext cx="2267712" cy="274320"/>
          </a:xfrm>
          <a:prstGeom prst="rect">
            <a:avLst/>
          </a:prstGeom>
          <a:solidFill>
            <a:srgbClr val="161D27"/>
          </a:solidFill>
          <a:ln w="317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35508" y="507034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OEWS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1485900" y="507034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states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530" dirty="0"/>
          </a:p>
        </p:txBody>
      </p:sp>
      <p:sp>
        <p:nvSpPr>
          <p:cNvPr id="64" name="Text 62"/>
          <p:cNvSpPr/>
          <p:nvPr/>
        </p:nvSpPr>
        <p:spPr>
          <a:xfrm>
            <a:off x="2052828" y="5070348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wage</a:t>
            </a:r>
            <a:endParaRPr lang="en-US" sz="530" dirty="0"/>
          </a:p>
          <a:p>
            <a:pPr marL="0" indent="0" algn="l">
              <a:buNone/>
            </a:pPr>
            <a:r>
              <a:rPr lang="en-US" sz="53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occupation</a:t>
            </a:r>
            <a:endParaRPr lang="en-US" sz="530" dirty="0"/>
          </a:p>
        </p:txBody>
      </p:sp>
      <p:sp>
        <p:nvSpPr>
          <p:cNvPr id="65" name="Shape 63"/>
          <p:cNvSpPr/>
          <p:nvPr/>
        </p:nvSpPr>
        <p:spPr>
          <a:xfrm>
            <a:off x="1453896" y="3657600"/>
            <a:ext cx="0" cy="1645920"/>
          </a:xfrm>
          <a:prstGeom prst="line">
            <a:avLst/>
          </a:prstGeom>
          <a:noFill/>
          <a:ln w="444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2020824" y="3657600"/>
            <a:ext cx="0" cy="1645920"/>
          </a:xfrm>
          <a:prstGeom prst="line">
            <a:avLst/>
          </a:prstGeom>
          <a:noFill/>
          <a:ln w="4445">
            <a:solidFill>
              <a:srgbClr val="2B35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58368" y="544068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60" i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on 5-digit county FIPS · cached once per server boot</a:t>
            </a:r>
            <a:endParaRPr lang="en-US" sz="560" dirty="0"/>
          </a:p>
        </p:txBody>
      </p:sp>
      <p:sp>
        <p:nvSpPr>
          <p:cNvPr id="68" name="Shape 66"/>
          <p:cNvSpPr/>
          <p:nvPr/>
        </p:nvSpPr>
        <p:spPr>
          <a:xfrm>
            <a:off x="3410712" y="1252728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3566160" y="1261872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803904" y="1225296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40" dirty="0"/>
          </a:p>
        </p:txBody>
      </p:sp>
      <p:sp>
        <p:nvSpPr>
          <p:cNvPr id="71" name="Shape 69"/>
          <p:cNvSpPr/>
          <p:nvPr/>
        </p:nvSpPr>
        <p:spPr>
          <a:xfrm>
            <a:off x="3566160" y="1517904"/>
            <a:ext cx="4873752" cy="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3429000" y="1719072"/>
            <a:ext cx="1243584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3429000" y="1719072"/>
            <a:ext cx="54864" cy="566928"/>
          </a:xfrm>
          <a:prstGeom prst="rect">
            <a:avLst/>
          </a:prstGeom>
          <a:solidFill>
            <a:srgbClr val="E66AB5"/>
          </a:solidFill>
          <a:ln w="12700">
            <a:solidFill>
              <a:srgbClr val="E66A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3529584" y="179222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E66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530" dirty="0"/>
          </a:p>
        </p:txBody>
      </p:sp>
      <p:sp>
        <p:nvSpPr>
          <p:cNvPr id="75" name="Text 73"/>
          <p:cNvSpPr/>
          <p:nvPr/>
        </p:nvSpPr>
        <p:spPr>
          <a:xfrm>
            <a:off x="3529584" y="1938528"/>
            <a:ext cx="10789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3529584" y="2157984"/>
            <a:ext cx="107899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p-pinpoint.html</a:t>
            </a:r>
            <a:endParaRPr lang="en-US" sz="490" dirty="0"/>
          </a:p>
        </p:txBody>
      </p:sp>
      <p:sp>
        <p:nvSpPr>
          <p:cNvPr id="77" name="Shape 75"/>
          <p:cNvSpPr/>
          <p:nvPr/>
        </p:nvSpPr>
        <p:spPr>
          <a:xfrm>
            <a:off x="4828032" y="1719072"/>
            <a:ext cx="1243584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4828032" y="1719072"/>
            <a:ext cx="54864" cy="566928"/>
          </a:xfrm>
          <a:prstGeom prst="rect">
            <a:avLst/>
          </a:prstGeom>
          <a:solidFill>
            <a:srgbClr val="B77AF2"/>
          </a:solidFill>
          <a:ln w="12700">
            <a:solidFill>
              <a:srgbClr val="B77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4928616" y="179222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B77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30" dirty="0"/>
          </a:p>
        </p:txBody>
      </p:sp>
      <p:sp>
        <p:nvSpPr>
          <p:cNvPr id="80" name="Text 78"/>
          <p:cNvSpPr/>
          <p:nvPr/>
        </p:nvSpPr>
        <p:spPr>
          <a:xfrm>
            <a:off x="4928616" y="1938528"/>
            <a:ext cx="10789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Parser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4928616" y="2157984"/>
            <a:ext cx="107899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openai_parser.py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6227064" y="1719072"/>
            <a:ext cx="1243584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6227064" y="1719072"/>
            <a:ext cx="54864" cy="566928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6327648" y="179222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530" dirty="0"/>
          </a:p>
        </p:txBody>
      </p:sp>
      <p:sp>
        <p:nvSpPr>
          <p:cNvPr id="85" name="Text 83"/>
          <p:cNvSpPr/>
          <p:nvPr/>
        </p:nvSpPr>
        <p:spPr>
          <a:xfrm>
            <a:off x="6327648" y="1938528"/>
            <a:ext cx="10789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</a:t>
            </a:r>
            <a:endParaRPr lang="en-US" sz="840" dirty="0"/>
          </a:p>
        </p:txBody>
      </p:sp>
      <p:sp>
        <p:nvSpPr>
          <p:cNvPr id="86" name="Text 84"/>
          <p:cNvSpPr/>
          <p:nvPr/>
        </p:nvSpPr>
        <p:spPr>
          <a:xfrm>
            <a:off x="6327648" y="2157984"/>
            <a:ext cx="107899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490" dirty="0"/>
          </a:p>
        </p:txBody>
      </p:sp>
      <p:sp>
        <p:nvSpPr>
          <p:cNvPr id="87" name="Shape 85"/>
          <p:cNvSpPr/>
          <p:nvPr/>
        </p:nvSpPr>
        <p:spPr>
          <a:xfrm>
            <a:off x="7626096" y="1719072"/>
            <a:ext cx="850392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7626096" y="1719072"/>
            <a:ext cx="54864" cy="566928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7726680" y="179222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5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530" dirty="0"/>
          </a:p>
        </p:txBody>
      </p:sp>
      <p:sp>
        <p:nvSpPr>
          <p:cNvPr id="90" name="Text 88"/>
          <p:cNvSpPr/>
          <p:nvPr/>
        </p:nvSpPr>
        <p:spPr>
          <a:xfrm>
            <a:off x="7726680" y="1938528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40" dirty="0"/>
          </a:p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840" dirty="0"/>
          </a:p>
        </p:txBody>
      </p:sp>
      <p:sp>
        <p:nvSpPr>
          <p:cNvPr id="91" name="Text 89"/>
          <p:cNvSpPr/>
          <p:nvPr/>
        </p:nvSpPr>
        <p:spPr>
          <a:xfrm>
            <a:off x="7726680" y="2157984"/>
            <a:ext cx="6858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490" dirty="0"/>
          </a:p>
        </p:txBody>
      </p:sp>
      <p:sp>
        <p:nvSpPr>
          <p:cNvPr id="92" name="Shape 90"/>
          <p:cNvSpPr/>
          <p:nvPr/>
        </p:nvSpPr>
        <p:spPr>
          <a:xfrm>
            <a:off x="4672584" y="2002536"/>
            <a:ext cx="128016" cy="0"/>
          </a:xfrm>
          <a:prstGeom prst="line">
            <a:avLst/>
          </a:prstGeom>
          <a:noFill/>
          <a:ln w="15240">
            <a:solidFill>
              <a:srgbClr val="46E3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071616" y="2002536"/>
            <a:ext cx="128016" cy="0"/>
          </a:xfrm>
          <a:prstGeom prst="line">
            <a:avLst/>
          </a:prstGeom>
          <a:noFill/>
          <a:ln w="15240">
            <a:solidFill>
              <a:srgbClr val="46E3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7470648" y="2002536"/>
            <a:ext cx="128016" cy="0"/>
          </a:xfrm>
          <a:prstGeom prst="line">
            <a:avLst/>
          </a:prstGeom>
          <a:noFill/>
          <a:ln w="15240">
            <a:solidFill>
              <a:srgbClr val="46E3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8055864" y="2286000"/>
            <a:ext cx="0" cy="384048"/>
          </a:xfrm>
          <a:prstGeom prst="line">
            <a:avLst/>
          </a:prstGeom>
          <a:noFill/>
          <a:ln w="15240">
            <a:solidFill>
              <a:srgbClr val="46E3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429000" y="2907792"/>
            <a:ext cx="1426464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429000" y="2907792"/>
            <a:ext cx="54864" cy="566928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3529584" y="298094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530" dirty="0"/>
          </a:p>
        </p:txBody>
      </p:sp>
      <p:sp>
        <p:nvSpPr>
          <p:cNvPr id="99" name="Text 97"/>
          <p:cNvSpPr/>
          <p:nvPr/>
        </p:nvSpPr>
        <p:spPr>
          <a:xfrm>
            <a:off x="3529584" y="3127248"/>
            <a:ext cx="12618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</a:t>
            </a:r>
            <a:endParaRPr lang="en-US" sz="840" dirty="0"/>
          </a:p>
        </p:txBody>
      </p:sp>
      <p:sp>
        <p:nvSpPr>
          <p:cNvPr id="100" name="Text 98"/>
          <p:cNvSpPr/>
          <p:nvPr/>
        </p:nvSpPr>
        <p:spPr>
          <a:xfrm>
            <a:off x="3529584" y="3346704"/>
            <a:ext cx="126187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scorer.py · 8-dim</a:t>
            </a:r>
            <a:endParaRPr lang="en-US" sz="490" dirty="0"/>
          </a:p>
        </p:txBody>
      </p:sp>
      <p:sp>
        <p:nvSpPr>
          <p:cNvPr id="101" name="Shape 99"/>
          <p:cNvSpPr/>
          <p:nvPr/>
        </p:nvSpPr>
        <p:spPr>
          <a:xfrm>
            <a:off x="5120640" y="2907792"/>
            <a:ext cx="1426464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5120640" y="2907792"/>
            <a:ext cx="54864" cy="566928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/>
          <p:nvPr/>
        </p:nvSpPr>
        <p:spPr>
          <a:xfrm>
            <a:off x="5221224" y="298094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530" dirty="0"/>
          </a:p>
        </p:txBody>
      </p:sp>
      <p:sp>
        <p:nvSpPr>
          <p:cNvPr id="104" name="Text 102"/>
          <p:cNvSpPr/>
          <p:nvPr/>
        </p:nvSpPr>
        <p:spPr>
          <a:xfrm>
            <a:off x="5221224" y="3127248"/>
            <a:ext cx="12618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Ranker / Explainer</a:t>
            </a:r>
            <a:endParaRPr lang="en-US" sz="840" dirty="0"/>
          </a:p>
        </p:txBody>
      </p:sp>
      <p:sp>
        <p:nvSpPr>
          <p:cNvPr id="105" name="Text 103"/>
          <p:cNvSpPr/>
          <p:nvPr/>
        </p:nvSpPr>
        <p:spPr>
          <a:xfrm>
            <a:off x="5221224" y="3346704"/>
            <a:ext cx="126187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ranker.py · explainer.py</a:t>
            </a:r>
            <a:endParaRPr lang="en-US" sz="490" dirty="0"/>
          </a:p>
        </p:txBody>
      </p:sp>
      <p:sp>
        <p:nvSpPr>
          <p:cNvPr id="106" name="Shape 104"/>
          <p:cNvSpPr/>
          <p:nvPr/>
        </p:nvSpPr>
        <p:spPr>
          <a:xfrm>
            <a:off x="6821424" y="2907792"/>
            <a:ext cx="1655064" cy="566928"/>
          </a:xfrm>
          <a:prstGeom prst="rect">
            <a:avLst/>
          </a:prstGeom>
          <a:solidFill>
            <a:srgbClr val="18202B"/>
          </a:solidFill>
          <a:ln w="889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6821424" y="2907792"/>
            <a:ext cx="54864" cy="566928"/>
          </a:xfrm>
          <a:prstGeom prst="rect">
            <a:avLst/>
          </a:prstGeom>
          <a:solidFill>
            <a:srgbClr val="E66AB5"/>
          </a:solidFill>
          <a:ln w="12700">
            <a:solidFill>
              <a:srgbClr val="E66A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Text 106"/>
          <p:cNvSpPr/>
          <p:nvPr/>
        </p:nvSpPr>
        <p:spPr>
          <a:xfrm>
            <a:off x="6922008" y="2980944"/>
            <a:ext cx="3200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E66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530" dirty="0"/>
          </a:p>
        </p:txBody>
      </p:sp>
      <p:sp>
        <p:nvSpPr>
          <p:cNvPr id="109" name="Text 107"/>
          <p:cNvSpPr/>
          <p:nvPr/>
        </p:nvSpPr>
        <p:spPr>
          <a:xfrm>
            <a:off x="6922008" y="3127248"/>
            <a:ext cx="14904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Result Cards</a:t>
            </a:r>
            <a:endParaRPr lang="en-US" sz="840" dirty="0"/>
          </a:p>
        </p:txBody>
      </p:sp>
      <p:sp>
        <p:nvSpPr>
          <p:cNvPr id="110" name="Text 108"/>
          <p:cNvSpPr/>
          <p:nvPr/>
        </p:nvSpPr>
        <p:spPr>
          <a:xfrm>
            <a:off x="6922008" y="3346704"/>
            <a:ext cx="1490472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 + cards</a:t>
            </a:r>
            <a:endParaRPr lang="en-US" sz="490" dirty="0"/>
          </a:p>
        </p:txBody>
      </p:sp>
      <p:sp>
        <p:nvSpPr>
          <p:cNvPr id="111" name="Shape 109"/>
          <p:cNvSpPr/>
          <p:nvPr/>
        </p:nvSpPr>
        <p:spPr>
          <a:xfrm>
            <a:off x="4855464" y="3191256"/>
            <a:ext cx="237744" cy="0"/>
          </a:xfrm>
          <a:prstGeom prst="line">
            <a:avLst/>
          </a:prstGeom>
          <a:noFill/>
          <a:ln w="15240">
            <a:solidFill>
              <a:srgbClr val="46E3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6547104" y="3191256"/>
            <a:ext cx="246888" cy="0"/>
          </a:xfrm>
          <a:prstGeom prst="line">
            <a:avLst/>
          </a:prstGeom>
          <a:noFill/>
          <a:ln w="15240">
            <a:solidFill>
              <a:srgbClr val="46E3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3429000" y="3675888"/>
            <a:ext cx="73152" cy="73152"/>
          </a:xfrm>
          <a:prstGeom prst="rect">
            <a:avLst/>
          </a:prstGeom>
          <a:solidFill>
            <a:srgbClr val="E66AB5"/>
          </a:solidFill>
          <a:ln w="12700">
            <a:solidFill>
              <a:srgbClr val="E66A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Text 112"/>
          <p:cNvSpPr/>
          <p:nvPr/>
        </p:nvSpPr>
        <p:spPr>
          <a:xfrm>
            <a:off x="3538728" y="3671316"/>
            <a:ext cx="45720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530" dirty="0"/>
          </a:p>
        </p:txBody>
      </p:sp>
      <p:sp>
        <p:nvSpPr>
          <p:cNvPr id="115" name="Shape 113"/>
          <p:cNvSpPr/>
          <p:nvPr/>
        </p:nvSpPr>
        <p:spPr>
          <a:xfrm>
            <a:off x="4251960" y="3675888"/>
            <a:ext cx="73152" cy="73152"/>
          </a:xfrm>
          <a:prstGeom prst="rect">
            <a:avLst/>
          </a:prstGeom>
          <a:solidFill>
            <a:srgbClr val="B77AF2"/>
          </a:solidFill>
          <a:ln w="12700">
            <a:solidFill>
              <a:srgbClr val="B77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Text 114"/>
          <p:cNvSpPr/>
          <p:nvPr/>
        </p:nvSpPr>
        <p:spPr>
          <a:xfrm>
            <a:off x="4361688" y="3671316"/>
            <a:ext cx="45720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30" dirty="0"/>
          </a:p>
        </p:txBody>
      </p:sp>
      <p:sp>
        <p:nvSpPr>
          <p:cNvPr id="117" name="Shape 115"/>
          <p:cNvSpPr/>
          <p:nvPr/>
        </p:nvSpPr>
        <p:spPr>
          <a:xfrm>
            <a:off x="5074920" y="3675888"/>
            <a:ext cx="73152" cy="73152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Text 116"/>
          <p:cNvSpPr/>
          <p:nvPr/>
        </p:nvSpPr>
        <p:spPr>
          <a:xfrm>
            <a:off x="5184648" y="3671316"/>
            <a:ext cx="45720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530" dirty="0"/>
          </a:p>
        </p:txBody>
      </p:sp>
      <p:sp>
        <p:nvSpPr>
          <p:cNvPr id="119" name="Shape 117"/>
          <p:cNvSpPr/>
          <p:nvPr/>
        </p:nvSpPr>
        <p:spPr>
          <a:xfrm>
            <a:off x="5897880" y="3675888"/>
            <a:ext cx="73152" cy="73152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Text 118"/>
          <p:cNvSpPr/>
          <p:nvPr/>
        </p:nvSpPr>
        <p:spPr>
          <a:xfrm>
            <a:off x="6007608" y="3671316"/>
            <a:ext cx="45720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530" dirty="0"/>
          </a:p>
        </p:txBody>
      </p:sp>
      <p:sp>
        <p:nvSpPr>
          <p:cNvPr id="121" name="Shape 119"/>
          <p:cNvSpPr/>
          <p:nvPr/>
        </p:nvSpPr>
        <p:spPr>
          <a:xfrm>
            <a:off x="6720840" y="3675888"/>
            <a:ext cx="73152" cy="73152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Text 120"/>
          <p:cNvSpPr/>
          <p:nvPr/>
        </p:nvSpPr>
        <p:spPr>
          <a:xfrm>
            <a:off x="6830568" y="3671316"/>
            <a:ext cx="45720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3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530" dirty="0"/>
          </a:p>
        </p:txBody>
      </p:sp>
      <p:sp>
        <p:nvSpPr>
          <p:cNvPr id="123" name="Shape 121"/>
          <p:cNvSpPr/>
          <p:nvPr/>
        </p:nvSpPr>
        <p:spPr>
          <a:xfrm>
            <a:off x="3410712" y="4014216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Text 122"/>
          <p:cNvSpPr/>
          <p:nvPr/>
        </p:nvSpPr>
        <p:spPr>
          <a:xfrm>
            <a:off x="3566160" y="4023360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3803904" y="3986784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8-DIMENSION SCORING ENGINE</a:t>
            </a:r>
            <a:endParaRPr lang="en-US" sz="1040" dirty="0"/>
          </a:p>
        </p:txBody>
      </p:sp>
      <p:sp>
        <p:nvSpPr>
          <p:cNvPr id="126" name="Shape 124"/>
          <p:cNvSpPr/>
          <p:nvPr/>
        </p:nvSpPr>
        <p:spPr>
          <a:xfrm>
            <a:off x="3566160" y="4279392"/>
            <a:ext cx="4873752" cy="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3429000" y="4370832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3429000" y="4370832"/>
            <a:ext cx="50292" cy="49377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Text 127"/>
          <p:cNvSpPr/>
          <p:nvPr/>
        </p:nvSpPr>
        <p:spPr>
          <a:xfrm>
            <a:off x="3520440" y="4416552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80" dirty="0"/>
          </a:p>
        </p:txBody>
      </p:sp>
      <p:sp>
        <p:nvSpPr>
          <p:cNvPr id="130" name="Text 128"/>
          <p:cNvSpPr/>
          <p:nvPr/>
        </p:nvSpPr>
        <p:spPr>
          <a:xfrm>
            <a:off x="4242816" y="4416552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</a:t>
            </a:r>
            <a:endParaRPr lang="en-US" sz="500" dirty="0"/>
          </a:p>
        </p:txBody>
      </p:sp>
      <p:sp>
        <p:nvSpPr>
          <p:cNvPr id="131" name="Text 129"/>
          <p:cNvSpPr/>
          <p:nvPr/>
        </p:nvSpPr>
        <p:spPr>
          <a:xfrm>
            <a:off x="3520440" y="4535424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Health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3520440" y="4700016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share · LQ · CAGR</a:t>
            </a:r>
            <a:endParaRPr lang="en-US" sz="520" dirty="0"/>
          </a:p>
        </p:txBody>
      </p:sp>
      <p:sp>
        <p:nvSpPr>
          <p:cNvPr id="133" name="Shape 131"/>
          <p:cNvSpPr/>
          <p:nvPr/>
        </p:nvSpPr>
        <p:spPr>
          <a:xfrm>
            <a:off x="4773168" y="4370832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4773168" y="4370832"/>
            <a:ext cx="50292" cy="49377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Text 133"/>
          <p:cNvSpPr/>
          <p:nvPr/>
        </p:nvSpPr>
        <p:spPr>
          <a:xfrm>
            <a:off x="4864608" y="4416552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80" dirty="0"/>
          </a:p>
        </p:txBody>
      </p:sp>
      <p:sp>
        <p:nvSpPr>
          <p:cNvPr id="136" name="Text 134"/>
          <p:cNvSpPr/>
          <p:nvPr/>
        </p:nvSpPr>
        <p:spPr>
          <a:xfrm>
            <a:off x="5586984" y="4416552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</a:t>
            </a:r>
            <a:endParaRPr lang="en-US" sz="500" dirty="0"/>
          </a:p>
        </p:txBody>
      </p:sp>
      <p:sp>
        <p:nvSpPr>
          <p:cNvPr id="137" name="Text 135"/>
          <p:cNvSpPr/>
          <p:nvPr/>
        </p:nvSpPr>
        <p:spPr>
          <a:xfrm>
            <a:off x="4864608" y="4535424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Growth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4864608" y="4700016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5-yr CAGR · recovery</a:t>
            </a:r>
            <a:endParaRPr lang="en-US" sz="520" dirty="0"/>
          </a:p>
        </p:txBody>
      </p:sp>
      <p:sp>
        <p:nvSpPr>
          <p:cNvPr id="139" name="Shape 137"/>
          <p:cNvSpPr/>
          <p:nvPr/>
        </p:nvSpPr>
        <p:spPr>
          <a:xfrm>
            <a:off x="6117336" y="4370832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Shape 138"/>
          <p:cNvSpPr/>
          <p:nvPr/>
        </p:nvSpPr>
        <p:spPr>
          <a:xfrm>
            <a:off x="6117336" y="4370832"/>
            <a:ext cx="50292" cy="49377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Text 139"/>
          <p:cNvSpPr/>
          <p:nvPr/>
        </p:nvSpPr>
        <p:spPr>
          <a:xfrm>
            <a:off x="6208776" y="4416552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80" dirty="0"/>
          </a:p>
        </p:txBody>
      </p:sp>
      <p:sp>
        <p:nvSpPr>
          <p:cNvPr id="142" name="Text 140"/>
          <p:cNvSpPr/>
          <p:nvPr/>
        </p:nvSpPr>
        <p:spPr>
          <a:xfrm>
            <a:off x="6931152" y="4416552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</a:t>
            </a:r>
            <a:endParaRPr lang="en-US" sz="500" dirty="0"/>
          </a:p>
        </p:txBody>
      </p:sp>
      <p:sp>
        <p:nvSpPr>
          <p:cNvPr id="143" name="Text 141"/>
          <p:cNvSpPr/>
          <p:nvPr/>
        </p:nvSpPr>
        <p:spPr>
          <a:xfrm>
            <a:off x="6208776" y="4535424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6208776" y="4700016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Log-norm county GDP</a:t>
            </a:r>
            <a:endParaRPr lang="en-US" sz="520" dirty="0"/>
          </a:p>
        </p:txBody>
      </p:sp>
      <p:sp>
        <p:nvSpPr>
          <p:cNvPr id="145" name="Shape 143"/>
          <p:cNvSpPr/>
          <p:nvPr/>
        </p:nvSpPr>
        <p:spPr>
          <a:xfrm>
            <a:off x="7461504" y="4370832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Shape 144"/>
          <p:cNvSpPr/>
          <p:nvPr/>
        </p:nvSpPr>
        <p:spPr>
          <a:xfrm>
            <a:off x="7461504" y="4370832"/>
            <a:ext cx="50292" cy="49377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" name="Text 145"/>
          <p:cNvSpPr/>
          <p:nvPr/>
        </p:nvSpPr>
        <p:spPr>
          <a:xfrm>
            <a:off x="7552944" y="4416552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80" dirty="0"/>
          </a:p>
        </p:txBody>
      </p:sp>
      <p:sp>
        <p:nvSpPr>
          <p:cNvPr id="148" name="Text 146"/>
          <p:cNvSpPr/>
          <p:nvPr/>
        </p:nvSpPr>
        <p:spPr>
          <a:xfrm>
            <a:off x="8275320" y="4416552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7552944" y="4535424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7552944" y="4700016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sector presence</a:t>
            </a:r>
            <a:endParaRPr lang="en-US" sz="520" dirty="0"/>
          </a:p>
        </p:txBody>
      </p:sp>
      <p:sp>
        <p:nvSpPr>
          <p:cNvPr id="151" name="Shape 149"/>
          <p:cNvSpPr/>
          <p:nvPr/>
        </p:nvSpPr>
        <p:spPr>
          <a:xfrm>
            <a:off x="3429000" y="4974336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" name="Shape 150"/>
          <p:cNvSpPr/>
          <p:nvPr/>
        </p:nvSpPr>
        <p:spPr>
          <a:xfrm>
            <a:off x="3429000" y="4974336"/>
            <a:ext cx="50292" cy="49377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Text 151"/>
          <p:cNvSpPr/>
          <p:nvPr/>
        </p:nvSpPr>
        <p:spPr>
          <a:xfrm>
            <a:off x="3520440" y="502005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80" dirty="0"/>
          </a:p>
        </p:txBody>
      </p:sp>
      <p:sp>
        <p:nvSpPr>
          <p:cNvPr id="154" name="Text 152"/>
          <p:cNvSpPr/>
          <p:nvPr/>
        </p:nvSpPr>
        <p:spPr>
          <a:xfrm>
            <a:off x="4242816" y="5020056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</a:t>
            </a:r>
            <a:endParaRPr lang="en-US" sz="500" dirty="0"/>
          </a:p>
        </p:txBody>
      </p:sp>
      <p:sp>
        <p:nvSpPr>
          <p:cNvPr id="155" name="Text 153"/>
          <p:cNvSpPr/>
          <p:nvPr/>
        </p:nvSpPr>
        <p:spPr>
          <a:xfrm>
            <a:off x="3520440" y="5138928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3520440" y="5303520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diversity · volatility</a:t>
            </a:r>
            <a:endParaRPr lang="en-US" sz="520" dirty="0"/>
          </a:p>
        </p:txBody>
      </p:sp>
      <p:sp>
        <p:nvSpPr>
          <p:cNvPr id="157" name="Shape 155"/>
          <p:cNvSpPr/>
          <p:nvPr/>
        </p:nvSpPr>
        <p:spPr>
          <a:xfrm>
            <a:off x="4773168" y="4974336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Shape 156"/>
          <p:cNvSpPr/>
          <p:nvPr/>
        </p:nvSpPr>
        <p:spPr>
          <a:xfrm>
            <a:off x="4773168" y="4974336"/>
            <a:ext cx="50292" cy="493776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" name="Text 157"/>
          <p:cNvSpPr/>
          <p:nvPr/>
        </p:nvSpPr>
        <p:spPr>
          <a:xfrm>
            <a:off x="4864608" y="502005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80" dirty="0"/>
          </a:p>
        </p:txBody>
      </p:sp>
      <p:sp>
        <p:nvSpPr>
          <p:cNvPr id="160" name="Text 158"/>
          <p:cNvSpPr/>
          <p:nvPr/>
        </p:nvSpPr>
        <p:spPr>
          <a:xfrm>
            <a:off x="5586984" y="5020056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</a:t>
            </a:r>
            <a:endParaRPr lang="en-US" sz="500" dirty="0"/>
          </a:p>
        </p:txBody>
      </p:sp>
      <p:sp>
        <p:nvSpPr>
          <p:cNvPr id="161" name="Text 159"/>
          <p:cNvSpPr/>
          <p:nvPr/>
        </p:nvSpPr>
        <p:spPr>
          <a:xfrm>
            <a:off x="4864608" y="5138928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Density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4864608" y="5303520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Establishments / 1K jobs</a:t>
            </a:r>
            <a:endParaRPr lang="en-US" sz="520" dirty="0"/>
          </a:p>
        </p:txBody>
      </p:sp>
      <p:sp>
        <p:nvSpPr>
          <p:cNvPr id="163" name="Shape 161"/>
          <p:cNvSpPr/>
          <p:nvPr/>
        </p:nvSpPr>
        <p:spPr>
          <a:xfrm>
            <a:off x="6117336" y="4974336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Shape 162"/>
          <p:cNvSpPr/>
          <p:nvPr/>
        </p:nvSpPr>
        <p:spPr>
          <a:xfrm>
            <a:off x="6117336" y="4974336"/>
            <a:ext cx="50292" cy="493776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Text 163"/>
          <p:cNvSpPr/>
          <p:nvPr/>
        </p:nvSpPr>
        <p:spPr>
          <a:xfrm>
            <a:off x="6208776" y="502005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580" dirty="0"/>
          </a:p>
        </p:txBody>
      </p:sp>
      <p:sp>
        <p:nvSpPr>
          <p:cNvPr id="166" name="Text 164"/>
          <p:cNvSpPr/>
          <p:nvPr/>
        </p:nvSpPr>
        <p:spPr>
          <a:xfrm>
            <a:off x="6931152" y="5020056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LODES + OEWS</a:t>
            </a:r>
            <a:endParaRPr lang="en-US" sz="500" dirty="0"/>
          </a:p>
        </p:txBody>
      </p:sp>
      <p:sp>
        <p:nvSpPr>
          <p:cNvPr id="167" name="Text 165"/>
          <p:cNvSpPr/>
          <p:nvPr/>
        </p:nvSpPr>
        <p:spPr>
          <a:xfrm>
            <a:off x="6208776" y="5138928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Supply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6208776" y="5303520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High-wage share × wage cost</a:t>
            </a:r>
            <a:endParaRPr lang="en-US" sz="520" dirty="0"/>
          </a:p>
        </p:txBody>
      </p:sp>
      <p:sp>
        <p:nvSpPr>
          <p:cNvPr id="169" name="Shape 167"/>
          <p:cNvSpPr/>
          <p:nvPr/>
        </p:nvSpPr>
        <p:spPr>
          <a:xfrm>
            <a:off x="7461504" y="4974336"/>
            <a:ext cx="1225296" cy="493776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Shape 168"/>
          <p:cNvSpPr/>
          <p:nvPr/>
        </p:nvSpPr>
        <p:spPr>
          <a:xfrm>
            <a:off x="7461504" y="4974336"/>
            <a:ext cx="50292" cy="493776"/>
          </a:xfrm>
          <a:prstGeom prst="rect">
            <a:avLst/>
          </a:prstGeom>
          <a:solidFill>
            <a:srgbClr val="B77AF2"/>
          </a:solidFill>
          <a:ln w="12700">
            <a:solidFill>
              <a:srgbClr val="B77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Text 169"/>
          <p:cNvSpPr/>
          <p:nvPr/>
        </p:nvSpPr>
        <p:spPr>
          <a:xfrm>
            <a:off x="7552944" y="502005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580" dirty="0"/>
          </a:p>
        </p:txBody>
      </p:sp>
      <p:sp>
        <p:nvSpPr>
          <p:cNvPr id="172" name="Text 170"/>
          <p:cNvSpPr/>
          <p:nvPr/>
        </p:nvSpPr>
        <p:spPr>
          <a:xfrm>
            <a:off x="8275320" y="5020056"/>
            <a:ext cx="36576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500" b="1" dirty="0">
                <a:solidFill>
                  <a:srgbClr val="73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Found.</a:t>
            </a:r>
            <a:endParaRPr lang="en-US" sz="500" dirty="0"/>
          </a:p>
        </p:txBody>
      </p:sp>
      <p:sp>
        <p:nvSpPr>
          <p:cNvPr id="173" name="Text 171"/>
          <p:cNvSpPr/>
          <p:nvPr/>
        </p:nvSpPr>
        <p:spPr>
          <a:xfrm>
            <a:off x="7552944" y="5138928"/>
            <a:ext cx="10607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Climate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7552944" y="5303520"/>
            <a:ext cx="1097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rate (inverted)</a:t>
            </a:r>
            <a:endParaRPr lang="en-US" sz="520" dirty="0"/>
          </a:p>
        </p:txBody>
      </p:sp>
      <p:sp>
        <p:nvSpPr>
          <p:cNvPr id="175" name="Shape 173"/>
          <p:cNvSpPr/>
          <p:nvPr/>
        </p:nvSpPr>
        <p:spPr>
          <a:xfrm>
            <a:off x="3410712" y="5550408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Text 174"/>
          <p:cNvSpPr/>
          <p:nvPr/>
        </p:nvSpPr>
        <p:spPr>
          <a:xfrm>
            <a:off x="3566160" y="5559552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177" name="Text 175"/>
          <p:cNvSpPr/>
          <p:nvPr/>
        </p:nvSpPr>
        <p:spPr>
          <a:xfrm>
            <a:off x="3803904" y="5522976"/>
            <a:ext cx="47274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WEIGHTS</a:t>
            </a:r>
            <a:endParaRPr lang="en-US" sz="1040" dirty="0"/>
          </a:p>
        </p:txBody>
      </p:sp>
      <p:sp>
        <p:nvSpPr>
          <p:cNvPr id="178" name="Shape 176"/>
          <p:cNvSpPr/>
          <p:nvPr/>
        </p:nvSpPr>
        <p:spPr>
          <a:xfrm>
            <a:off x="3566160" y="5792541"/>
            <a:ext cx="4873752" cy="2286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Text 177"/>
          <p:cNvSpPr/>
          <p:nvPr/>
        </p:nvSpPr>
        <p:spPr>
          <a:xfrm>
            <a:off x="4343400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420" dirty="0"/>
          </a:p>
        </p:txBody>
      </p:sp>
      <p:sp>
        <p:nvSpPr>
          <p:cNvPr id="180" name="Text 178"/>
          <p:cNvSpPr/>
          <p:nvPr/>
        </p:nvSpPr>
        <p:spPr>
          <a:xfrm>
            <a:off x="4727448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420" dirty="0"/>
          </a:p>
        </p:txBody>
      </p:sp>
      <p:sp>
        <p:nvSpPr>
          <p:cNvPr id="181" name="Text 179"/>
          <p:cNvSpPr/>
          <p:nvPr/>
        </p:nvSpPr>
        <p:spPr>
          <a:xfrm>
            <a:off x="5111496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420" dirty="0"/>
          </a:p>
        </p:txBody>
      </p:sp>
      <p:sp>
        <p:nvSpPr>
          <p:cNvPr id="182" name="Text 180"/>
          <p:cNvSpPr/>
          <p:nvPr/>
        </p:nvSpPr>
        <p:spPr>
          <a:xfrm>
            <a:off x="5495544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Complem.</a:t>
            </a:r>
            <a:endParaRPr lang="en-US" sz="420" dirty="0"/>
          </a:p>
        </p:txBody>
      </p:sp>
      <p:sp>
        <p:nvSpPr>
          <p:cNvPr id="183" name="Text 181"/>
          <p:cNvSpPr/>
          <p:nvPr/>
        </p:nvSpPr>
        <p:spPr>
          <a:xfrm>
            <a:off x="5879592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420" dirty="0"/>
          </a:p>
        </p:txBody>
      </p:sp>
      <p:sp>
        <p:nvSpPr>
          <p:cNvPr id="184" name="Text 182"/>
          <p:cNvSpPr/>
          <p:nvPr/>
        </p:nvSpPr>
        <p:spPr>
          <a:xfrm>
            <a:off x="6263640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Comp.</a:t>
            </a:r>
            <a:endParaRPr lang="en-US" sz="420" dirty="0"/>
          </a:p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</a:t>
            </a:r>
            <a:endParaRPr lang="en-US" sz="420" dirty="0"/>
          </a:p>
        </p:txBody>
      </p:sp>
      <p:sp>
        <p:nvSpPr>
          <p:cNvPr id="185" name="Text 183"/>
          <p:cNvSpPr/>
          <p:nvPr/>
        </p:nvSpPr>
        <p:spPr>
          <a:xfrm>
            <a:off x="6647688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420" dirty="0"/>
          </a:p>
        </p:txBody>
      </p:sp>
      <p:sp>
        <p:nvSpPr>
          <p:cNvPr id="186" name="Text 184"/>
          <p:cNvSpPr/>
          <p:nvPr/>
        </p:nvSpPr>
        <p:spPr>
          <a:xfrm>
            <a:off x="7031736" y="5658855"/>
            <a:ext cx="384048" cy="1258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20" b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420" dirty="0"/>
          </a:p>
        </p:txBody>
      </p:sp>
      <p:sp>
        <p:nvSpPr>
          <p:cNvPr id="187" name="Text 185"/>
          <p:cNvSpPr/>
          <p:nvPr/>
        </p:nvSpPr>
        <p:spPr>
          <a:xfrm>
            <a:off x="3776472" y="5831860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460" dirty="0"/>
          </a:p>
        </p:txBody>
      </p:sp>
      <p:sp>
        <p:nvSpPr>
          <p:cNvPr id="188" name="Shape 186"/>
          <p:cNvSpPr/>
          <p:nvPr/>
        </p:nvSpPr>
        <p:spPr>
          <a:xfrm>
            <a:off x="4343400" y="5816132"/>
            <a:ext cx="384048" cy="90434"/>
          </a:xfrm>
          <a:prstGeom prst="rect">
            <a:avLst/>
          </a:prstGeom>
          <a:solidFill>
            <a:srgbClr val="2C8B5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" name="Text 187"/>
          <p:cNvSpPr/>
          <p:nvPr/>
        </p:nvSpPr>
        <p:spPr>
          <a:xfrm>
            <a:off x="4343400" y="5831860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.25</a:t>
            </a:r>
            <a:endParaRPr lang="en-US" sz="400" dirty="0"/>
          </a:p>
        </p:txBody>
      </p:sp>
      <p:sp>
        <p:nvSpPr>
          <p:cNvPr id="190" name="Shape 188"/>
          <p:cNvSpPr/>
          <p:nvPr/>
        </p:nvSpPr>
        <p:spPr>
          <a:xfrm>
            <a:off x="4727448" y="5816132"/>
            <a:ext cx="384048" cy="90434"/>
          </a:xfrm>
          <a:prstGeom prst="rect">
            <a:avLst/>
          </a:prstGeom>
          <a:solidFill>
            <a:srgbClr val="2C8B5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" name="Text 189"/>
          <p:cNvSpPr/>
          <p:nvPr/>
        </p:nvSpPr>
        <p:spPr>
          <a:xfrm>
            <a:off x="4727448" y="5831860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400" dirty="0"/>
          </a:p>
        </p:txBody>
      </p:sp>
      <p:sp>
        <p:nvSpPr>
          <p:cNvPr id="192" name="Shape 190"/>
          <p:cNvSpPr/>
          <p:nvPr/>
        </p:nvSpPr>
        <p:spPr>
          <a:xfrm>
            <a:off x="5111496" y="5816132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Shape 191"/>
          <p:cNvSpPr/>
          <p:nvPr/>
        </p:nvSpPr>
        <p:spPr>
          <a:xfrm>
            <a:off x="5495544" y="5816132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4" name="Shape 192"/>
          <p:cNvSpPr/>
          <p:nvPr/>
        </p:nvSpPr>
        <p:spPr>
          <a:xfrm>
            <a:off x="5879592" y="5816132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Shape 193"/>
          <p:cNvSpPr/>
          <p:nvPr/>
        </p:nvSpPr>
        <p:spPr>
          <a:xfrm>
            <a:off x="6263640" y="5816132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Shape 194"/>
          <p:cNvSpPr/>
          <p:nvPr/>
        </p:nvSpPr>
        <p:spPr>
          <a:xfrm>
            <a:off x="6647688" y="5816132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Shape 195"/>
          <p:cNvSpPr/>
          <p:nvPr/>
        </p:nvSpPr>
        <p:spPr>
          <a:xfrm>
            <a:off x="7031736" y="5816132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Text 196"/>
          <p:cNvSpPr/>
          <p:nvPr/>
        </p:nvSpPr>
        <p:spPr>
          <a:xfrm>
            <a:off x="3776472" y="5922294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</a:t>
            </a:r>
            <a:endParaRPr lang="en-US" sz="460" dirty="0"/>
          </a:p>
        </p:txBody>
      </p:sp>
      <p:sp>
        <p:nvSpPr>
          <p:cNvPr id="199" name="Shape 197"/>
          <p:cNvSpPr/>
          <p:nvPr/>
        </p:nvSpPr>
        <p:spPr>
          <a:xfrm>
            <a:off x="4343400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Shape 198"/>
          <p:cNvSpPr/>
          <p:nvPr/>
        </p:nvSpPr>
        <p:spPr>
          <a:xfrm>
            <a:off x="4727448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Shape 199"/>
          <p:cNvSpPr/>
          <p:nvPr/>
        </p:nvSpPr>
        <p:spPr>
          <a:xfrm>
            <a:off x="5111496" y="5906566"/>
            <a:ext cx="384048" cy="90434"/>
          </a:xfrm>
          <a:prstGeom prst="rect">
            <a:avLst/>
          </a:prstGeom>
          <a:solidFill>
            <a:srgbClr val="2C8B5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Text 200"/>
          <p:cNvSpPr/>
          <p:nvPr/>
        </p:nvSpPr>
        <p:spPr>
          <a:xfrm>
            <a:off x="5111496" y="5922294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.28</a:t>
            </a:r>
            <a:endParaRPr lang="en-US" sz="400" dirty="0"/>
          </a:p>
        </p:txBody>
      </p:sp>
      <p:sp>
        <p:nvSpPr>
          <p:cNvPr id="203" name="Shape 201"/>
          <p:cNvSpPr/>
          <p:nvPr/>
        </p:nvSpPr>
        <p:spPr>
          <a:xfrm>
            <a:off x="5495544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Shape 202"/>
          <p:cNvSpPr/>
          <p:nvPr/>
        </p:nvSpPr>
        <p:spPr>
          <a:xfrm>
            <a:off x="5879592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Shape 203"/>
          <p:cNvSpPr/>
          <p:nvPr/>
        </p:nvSpPr>
        <p:spPr>
          <a:xfrm>
            <a:off x="6263640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Shape 204"/>
          <p:cNvSpPr/>
          <p:nvPr/>
        </p:nvSpPr>
        <p:spPr>
          <a:xfrm>
            <a:off x="6647688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Shape 205"/>
          <p:cNvSpPr/>
          <p:nvPr/>
        </p:nvSpPr>
        <p:spPr>
          <a:xfrm>
            <a:off x="7031736" y="5906566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Text 206"/>
          <p:cNvSpPr/>
          <p:nvPr/>
        </p:nvSpPr>
        <p:spPr>
          <a:xfrm>
            <a:off x="3776472" y="6012728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460" dirty="0"/>
          </a:p>
        </p:txBody>
      </p:sp>
      <p:sp>
        <p:nvSpPr>
          <p:cNvPr id="209" name="Shape 207"/>
          <p:cNvSpPr/>
          <p:nvPr/>
        </p:nvSpPr>
        <p:spPr>
          <a:xfrm>
            <a:off x="4343400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Shape 208"/>
          <p:cNvSpPr/>
          <p:nvPr/>
        </p:nvSpPr>
        <p:spPr>
          <a:xfrm>
            <a:off x="4727448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Shape 209"/>
          <p:cNvSpPr/>
          <p:nvPr/>
        </p:nvSpPr>
        <p:spPr>
          <a:xfrm>
            <a:off x="5111496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Shape 210"/>
          <p:cNvSpPr/>
          <p:nvPr/>
        </p:nvSpPr>
        <p:spPr>
          <a:xfrm>
            <a:off x="5495544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Shape 211"/>
          <p:cNvSpPr/>
          <p:nvPr/>
        </p:nvSpPr>
        <p:spPr>
          <a:xfrm>
            <a:off x="5879592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Shape 212"/>
          <p:cNvSpPr/>
          <p:nvPr/>
        </p:nvSpPr>
        <p:spPr>
          <a:xfrm>
            <a:off x="6263640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Shape 213"/>
          <p:cNvSpPr/>
          <p:nvPr/>
        </p:nvSpPr>
        <p:spPr>
          <a:xfrm>
            <a:off x="6647688" y="5997000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Shape 214"/>
          <p:cNvSpPr/>
          <p:nvPr/>
        </p:nvSpPr>
        <p:spPr>
          <a:xfrm>
            <a:off x="7031736" y="5997000"/>
            <a:ext cx="384048" cy="90434"/>
          </a:xfrm>
          <a:prstGeom prst="rect">
            <a:avLst/>
          </a:prstGeom>
          <a:solidFill>
            <a:srgbClr val="46E381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Text 215"/>
          <p:cNvSpPr/>
          <p:nvPr/>
        </p:nvSpPr>
        <p:spPr>
          <a:xfrm>
            <a:off x="7031736" y="6012728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.35</a:t>
            </a:r>
            <a:endParaRPr lang="en-US" sz="400" dirty="0"/>
          </a:p>
        </p:txBody>
      </p:sp>
      <p:sp>
        <p:nvSpPr>
          <p:cNvPr id="218" name="Text 216"/>
          <p:cNvSpPr/>
          <p:nvPr/>
        </p:nvSpPr>
        <p:spPr>
          <a:xfrm>
            <a:off x="3776472" y="6103162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pot.</a:t>
            </a:r>
            <a:endParaRPr lang="en-US" sz="460" dirty="0"/>
          </a:p>
        </p:txBody>
      </p:sp>
      <p:sp>
        <p:nvSpPr>
          <p:cNvPr id="219" name="Shape 217"/>
          <p:cNvSpPr/>
          <p:nvPr/>
        </p:nvSpPr>
        <p:spPr>
          <a:xfrm>
            <a:off x="4343400" y="6087435"/>
            <a:ext cx="384048" cy="90434"/>
          </a:xfrm>
          <a:prstGeom prst="rect">
            <a:avLst/>
          </a:prstGeom>
          <a:solidFill>
            <a:srgbClr val="1F6B4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Text 218"/>
          <p:cNvSpPr/>
          <p:nvPr/>
        </p:nvSpPr>
        <p:spPr>
          <a:xfrm>
            <a:off x="4343400" y="6103162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</a:t>
            </a:r>
            <a:endParaRPr lang="en-US" sz="400" dirty="0"/>
          </a:p>
        </p:txBody>
      </p:sp>
      <p:sp>
        <p:nvSpPr>
          <p:cNvPr id="221" name="Shape 219"/>
          <p:cNvSpPr/>
          <p:nvPr/>
        </p:nvSpPr>
        <p:spPr>
          <a:xfrm>
            <a:off x="4727448" y="6087435"/>
            <a:ext cx="384048" cy="90434"/>
          </a:xfrm>
          <a:prstGeom prst="rect">
            <a:avLst/>
          </a:prstGeom>
          <a:solidFill>
            <a:srgbClr val="46E381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Text 220"/>
          <p:cNvSpPr/>
          <p:nvPr/>
        </p:nvSpPr>
        <p:spPr>
          <a:xfrm>
            <a:off x="4727448" y="6103162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.38</a:t>
            </a:r>
            <a:endParaRPr lang="en-US" sz="400" dirty="0"/>
          </a:p>
        </p:txBody>
      </p:sp>
      <p:sp>
        <p:nvSpPr>
          <p:cNvPr id="223" name="Shape 221"/>
          <p:cNvSpPr/>
          <p:nvPr/>
        </p:nvSpPr>
        <p:spPr>
          <a:xfrm>
            <a:off x="5111496" y="6087435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Shape 222"/>
          <p:cNvSpPr/>
          <p:nvPr/>
        </p:nvSpPr>
        <p:spPr>
          <a:xfrm>
            <a:off x="5495544" y="6087435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Shape 223"/>
          <p:cNvSpPr/>
          <p:nvPr/>
        </p:nvSpPr>
        <p:spPr>
          <a:xfrm>
            <a:off x="5879592" y="6087435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Shape 224"/>
          <p:cNvSpPr/>
          <p:nvPr/>
        </p:nvSpPr>
        <p:spPr>
          <a:xfrm>
            <a:off x="6263640" y="6087435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Shape 225"/>
          <p:cNvSpPr/>
          <p:nvPr/>
        </p:nvSpPr>
        <p:spPr>
          <a:xfrm>
            <a:off x="6647688" y="6087435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Shape 226"/>
          <p:cNvSpPr/>
          <p:nvPr/>
        </p:nvSpPr>
        <p:spPr>
          <a:xfrm>
            <a:off x="7031736" y="6087435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Text 227"/>
          <p:cNvSpPr/>
          <p:nvPr/>
        </p:nvSpPr>
        <p:spPr>
          <a:xfrm>
            <a:off x="3776472" y="6193596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comp.</a:t>
            </a:r>
            <a:endParaRPr lang="en-US" sz="460" dirty="0"/>
          </a:p>
        </p:txBody>
      </p:sp>
      <p:sp>
        <p:nvSpPr>
          <p:cNvPr id="230" name="Shape 228"/>
          <p:cNvSpPr/>
          <p:nvPr/>
        </p:nvSpPr>
        <p:spPr>
          <a:xfrm>
            <a:off x="4343400" y="6177869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Shape 229"/>
          <p:cNvSpPr/>
          <p:nvPr/>
        </p:nvSpPr>
        <p:spPr>
          <a:xfrm>
            <a:off x="4727448" y="6177869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Shape 230"/>
          <p:cNvSpPr/>
          <p:nvPr/>
        </p:nvSpPr>
        <p:spPr>
          <a:xfrm>
            <a:off x="5111496" y="6177869"/>
            <a:ext cx="384048" cy="90434"/>
          </a:xfrm>
          <a:prstGeom prst="rect">
            <a:avLst/>
          </a:prstGeom>
          <a:solidFill>
            <a:srgbClr val="1F6B4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Text 231"/>
          <p:cNvSpPr/>
          <p:nvPr/>
        </p:nvSpPr>
        <p:spPr>
          <a:xfrm>
            <a:off x="5111496" y="6193596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</a:t>
            </a:r>
            <a:endParaRPr lang="en-US" sz="400" dirty="0"/>
          </a:p>
        </p:txBody>
      </p:sp>
      <p:sp>
        <p:nvSpPr>
          <p:cNvPr id="234" name="Shape 232"/>
          <p:cNvSpPr/>
          <p:nvPr/>
        </p:nvSpPr>
        <p:spPr>
          <a:xfrm>
            <a:off x="5495544" y="6177869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Shape 233"/>
          <p:cNvSpPr/>
          <p:nvPr/>
        </p:nvSpPr>
        <p:spPr>
          <a:xfrm>
            <a:off x="5879592" y="6177869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Shape 234"/>
          <p:cNvSpPr/>
          <p:nvPr/>
        </p:nvSpPr>
        <p:spPr>
          <a:xfrm>
            <a:off x="6263640" y="6177869"/>
            <a:ext cx="384048" cy="90434"/>
          </a:xfrm>
          <a:prstGeom prst="rect">
            <a:avLst/>
          </a:prstGeom>
          <a:solidFill>
            <a:srgbClr val="2C8B5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Text 235"/>
          <p:cNvSpPr/>
          <p:nvPr/>
        </p:nvSpPr>
        <p:spPr>
          <a:xfrm>
            <a:off x="6263640" y="6193596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.28</a:t>
            </a:r>
            <a:endParaRPr lang="en-US" sz="400" dirty="0"/>
          </a:p>
        </p:txBody>
      </p:sp>
      <p:sp>
        <p:nvSpPr>
          <p:cNvPr id="238" name="Shape 236"/>
          <p:cNvSpPr/>
          <p:nvPr/>
        </p:nvSpPr>
        <p:spPr>
          <a:xfrm>
            <a:off x="6647688" y="6177869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Shape 237"/>
          <p:cNvSpPr/>
          <p:nvPr/>
        </p:nvSpPr>
        <p:spPr>
          <a:xfrm>
            <a:off x="7031736" y="6177869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Text 238"/>
          <p:cNvSpPr/>
          <p:nvPr/>
        </p:nvSpPr>
        <p:spPr>
          <a:xfrm>
            <a:off x="3776472" y="6284031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460" dirty="0"/>
          </a:p>
        </p:txBody>
      </p:sp>
      <p:sp>
        <p:nvSpPr>
          <p:cNvPr id="241" name="Shape 239"/>
          <p:cNvSpPr/>
          <p:nvPr/>
        </p:nvSpPr>
        <p:spPr>
          <a:xfrm>
            <a:off x="4343400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Shape 240"/>
          <p:cNvSpPr/>
          <p:nvPr/>
        </p:nvSpPr>
        <p:spPr>
          <a:xfrm>
            <a:off x="4727448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3" name="Shape 241"/>
          <p:cNvSpPr/>
          <p:nvPr/>
        </p:nvSpPr>
        <p:spPr>
          <a:xfrm>
            <a:off x="5111496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4" name="Shape 242"/>
          <p:cNvSpPr/>
          <p:nvPr/>
        </p:nvSpPr>
        <p:spPr>
          <a:xfrm>
            <a:off x="5495544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Shape 243"/>
          <p:cNvSpPr/>
          <p:nvPr/>
        </p:nvSpPr>
        <p:spPr>
          <a:xfrm>
            <a:off x="5879592" y="6268303"/>
            <a:ext cx="384048" cy="90434"/>
          </a:xfrm>
          <a:prstGeom prst="rect">
            <a:avLst/>
          </a:prstGeom>
          <a:solidFill>
            <a:srgbClr val="46E381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Text 244"/>
          <p:cNvSpPr/>
          <p:nvPr/>
        </p:nvSpPr>
        <p:spPr>
          <a:xfrm>
            <a:off x="5879592" y="6284031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.30</a:t>
            </a:r>
            <a:endParaRPr lang="en-US" sz="400" dirty="0"/>
          </a:p>
        </p:txBody>
      </p:sp>
      <p:sp>
        <p:nvSpPr>
          <p:cNvPr id="247" name="Shape 245"/>
          <p:cNvSpPr/>
          <p:nvPr/>
        </p:nvSpPr>
        <p:spPr>
          <a:xfrm>
            <a:off x="6263640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Shape 246"/>
          <p:cNvSpPr/>
          <p:nvPr/>
        </p:nvSpPr>
        <p:spPr>
          <a:xfrm>
            <a:off x="6647688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9" name="Shape 247"/>
          <p:cNvSpPr/>
          <p:nvPr/>
        </p:nvSpPr>
        <p:spPr>
          <a:xfrm>
            <a:off x="7031736" y="6268303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Text 248"/>
          <p:cNvSpPr/>
          <p:nvPr/>
        </p:nvSpPr>
        <p:spPr>
          <a:xfrm>
            <a:off x="3776472" y="6374465"/>
            <a:ext cx="502920" cy="629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6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cust.</a:t>
            </a:r>
            <a:endParaRPr lang="en-US" sz="460" dirty="0"/>
          </a:p>
        </p:txBody>
      </p:sp>
      <p:sp>
        <p:nvSpPr>
          <p:cNvPr id="251" name="Shape 249"/>
          <p:cNvSpPr/>
          <p:nvPr/>
        </p:nvSpPr>
        <p:spPr>
          <a:xfrm>
            <a:off x="4343400" y="6358737"/>
            <a:ext cx="384048" cy="90434"/>
          </a:xfrm>
          <a:prstGeom prst="rect">
            <a:avLst/>
          </a:prstGeom>
          <a:solidFill>
            <a:srgbClr val="1F6B4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2" name="Text 250"/>
          <p:cNvSpPr/>
          <p:nvPr/>
        </p:nvSpPr>
        <p:spPr>
          <a:xfrm>
            <a:off x="4343400" y="6374465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</a:t>
            </a:r>
            <a:endParaRPr lang="en-US" sz="400" dirty="0"/>
          </a:p>
        </p:txBody>
      </p:sp>
      <p:sp>
        <p:nvSpPr>
          <p:cNvPr id="253" name="Shape 251"/>
          <p:cNvSpPr/>
          <p:nvPr/>
        </p:nvSpPr>
        <p:spPr>
          <a:xfrm>
            <a:off x="4727448" y="6358737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Shape 252"/>
          <p:cNvSpPr/>
          <p:nvPr/>
        </p:nvSpPr>
        <p:spPr>
          <a:xfrm>
            <a:off x="5111496" y="6358737"/>
            <a:ext cx="384048" cy="90434"/>
          </a:xfrm>
          <a:prstGeom prst="rect">
            <a:avLst/>
          </a:prstGeom>
          <a:solidFill>
            <a:srgbClr val="2C8B5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Text 253"/>
          <p:cNvSpPr/>
          <p:nvPr/>
        </p:nvSpPr>
        <p:spPr>
          <a:xfrm>
            <a:off x="5111496" y="6374465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.22</a:t>
            </a:r>
            <a:endParaRPr lang="en-US" sz="400" dirty="0"/>
          </a:p>
        </p:txBody>
      </p:sp>
      <p:sp>
        <p:nvSpPr>
          <p:cNvPr id="256" name="Shape 254"/>
          <p:cNvSpPr/>
          <p:nvPr/>
        </p:nvSpPr>
        <p:spPr>
          <a:xfrm>
            <a:off x="5495544" y="6358737"/>
            <a:ext cx="384048" cy="90434"/>
          </a:xfrm>
          <a:prstGeom prst="rect">
            <a:avLst/>
          </a:prstGeom>
          <a:solidFill>
            <a:srgbClr val="2C8B59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7" name="Text 255"/>
          <p:cNvSpPr/>
          <p:nvPr/>
        </p:nvSpPr>
        <p:spPr>
          <a:xfrm>
            <a:off x="5495544" y="6374465"/>
            <a:ext cx="384048" cy="471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.25</a:t>
            </a:r>
            <a:endParaRPr lang="en-US" sz="400" dirty="0"/>
          </a:p>
        </p:txBody>
      </p:sp>
      <p:sp>
        <p:nvSpPr>
          <p:cNvPr id="258" name="Shape 256"/>
          <p:cNvSpPr/>
          <p:nvPr/>
        </p:nvSpPr>
        <p:spPr>
          <a:xfrm>
            <a:off x="5879592" y="6358737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9" name="Shape 257"/>
          <p:cNvSpPr/>
          <p:nvPr/>
        </p:nvSpPr>
        <p:spPr>
          <a:xfrm>
            <a:off x="6263640" y="6358737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Shape 258"/>
          <p:cNvSpPr/>
          <p:nvPr/>
        </p:nvSpPr>
        <p:spPr>
          <a:xfrm>
            <a:off x="6647688" y="6358737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Shape 259"/>
          <p:cNvSpPr/>
          <p:nvPr/>
        </p:nvSpPr>
        <p:spPr>
          <a:xfrm>
            <a:off x="7031736" y="6358737"/>
            <a:ext cx="384048" cy="90434"/>
          </a:xfrm>
          <a:prstGeom prst="rect">
            <a:avLst/>
          </a:prstGeom>
          <a:solidFill>
            <a:srgbClr val="16302B"/>
          </a:solidFill>
          <a:ln w="5080">
            <a:solidFill>
              <a:srgbClr val="0D16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2" name="Text 260"/>
          <p:cNvSpPr/>
          <p:nvPr/>
        </p:nvSpPr>
        <p:spPr>
          <a:xfrm>
            <a:off x="4480560" y="6508150"/>
            <a:ext cx="502920" cy="550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weight</a:t>
            </a:r>
            <a:endParaRPr lang="en-US" sz="400" dirty="0"/>
          </a:p>
        </p:txBody>
      </p:sp>
      <p:sp>
        <p:nvSpPr>
          <p:cNvPr id="263" name="Shape 261"/>
          <p:cNvSpPr/>
          <p:nvPr/>
        </p:nvSpPr>
        <p:spPr>
          <a:xfrm>
            <a:off x="5276088" y="6500286"/>
            <a:ext cx="320040" cy="47183"/>
          </a:xfrm>
          <a:prstGeom prst="rect">
            <a:avLst/>
          </a:prstGeom>
          <a:solidFill>
            <a:srgbClr val="1F6B49"/>
          </a:solidFill>
          <a:ln w="12700">
            <a:solidFill>
              <a:srgbClr val="1F6B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4" name="Shape 262"/>
          <p:cNvSpPr/>
          <p:nvPr/>
        </p:nvSpPr>
        <p:spPr>
          <a:xfrm>
            <a:off x="5596128" y="6500286"/>
            <a:ext cx="320040" cy="47183"/>
          </a:xfrm>
          <a:prstGeom prst="rect">
            <a:avLst/>
          </a:prstGeom>
          <a:solidFill>
            <a:srgbClr val="2C8B59"/>
          </a:solidFill>
          <a:ln w="12700">
            <a:solidFill>
              <a:srgbClr val="2C8B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5" name="Shape 263"/>
          <p:cNvSpPr/>
          <p:nvPr/>
        </p:nvSpPr>
        <p:spPr>
          <a:xfrm>
            <a:off x="5916168" y="6500286"/>
            <a:ext cx="320040" cy="47183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6" name="Text 264"/>
          <p:cNvSpPr/>
          <p:nvPr/>
        </p:nvSpPr>
        <p:spPr>
          <a:xfrm>
            <a:off x="6309360" y="6508150"/>
            <a:ext cx="685800" cy="550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weight</a:t>
            </a:r>
            <a:endParaRPr lang="en-US" sz="400" dirty="0"/>
          </a:p>
        </p:txBody>
      </p:sp>
      <p:sp>
        <p:nvSpPr>
          <p:cNvPr id="267" name="Text 265"/>
          <p:cNvSpPr/>
          <p:nvPr/>
        </p:nvSpPr>
        <p:spPr>
          <a:xfrm>
            <a:off x="7406640" y="6508150"/>
            <a:ext cx="1005840" cy="550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400" i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= low/zero weight</a:t>
            </a:r>
            <a:endParaRPr lang="en-US" sz="400" dirty="0"/>
          </a:p>
        </p:txBody>
      </p:sp>
      <p:sp>
        <p:nvSpPr>
          <p:cNvPr id="268" name="Shape 266"/>
          <p:cNvSpPr/>
          <p:nvPr/>
        </p:nvSpPr>
        <p:spPr>
          <a:xfrm>
            <a:off x="9162288" y="1207008"/>
            <a:ext cx="2295144" cy="2011680"/>
          </a:xfrm>
          <a:prstGeom prst="rect">
            <a:avLst/>
          </a:prstGeom>
          <a:solidFill>
            <a:srgbClr val="063019"/>
          </a:solidFill>
          <a:ln w="1397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9" name="Text 267"/>
          <p:cNvSpPr/>
          <p:nvPr/>
        </p:nvSpPr>
        <p:spPr>
          <a:xfrm>
            <a:off x="9308592" y="1399032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CONTRIBUTION</a:t>
            </a:r>
            <a:endParaRPr lang="en-US" sz="900" dirty="0"/>
          </a:p>
        </p:txBody>
      </p:sp>
      <p:sp>
        <p:nvSpPr>
          <p:cNvPr id="270" name="Text 268"/>
          <p:cNvSpPr/>
          <p:nvPr/>
        </p:nvSpPr>
        <p:spPr>
          <a:xfrm>
            <a:off x="9308592" y="1664208"/>
            <a:ext cx="1965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i="1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end-to-end</a:t>
            </a:r>
            <a:endParaRPr lang="en-US" sz="520" dirty="0"/>
          </a:p>
        </p:txBody>
      </p:sp>
      <p:sp>
        <p:nvSpPr>
          <p:cNvPr id="271" name="Shape 269"/>
          <p:cNvSpPr/>
          <p:nvPr/>
        </p:nvSpPr>
        <p:spPr>
          <a:xfrm>
            <a:off x="9308592" y="1810512"/>
            <a:ext cx="347472" cy="301752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" name="Text 270"/>
          <p:cNvSpPr/>
          <p:nvPr/>
        </p:nvSpPr>
        <p:spPr>
          <a:xfrm>
            <a:off x="9308592" y="1897380"/>
            <a:ext cx="3474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80" dirty="0"/>
          </a:p>
        </p:txBody>
      </p:sp>
      <p:sp>
        <p:nvSpPr>
          <p:cNvPr id="273" name="Text 271"/>
          <p:cNvSpPr/>
          <p:nvPr/>
        </p:nvSpPr>
        <p:spPr>
          <a:xfrm>
            <a:off x="9802368" y="1828800"/>
            <a:ext cx="17373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700" dirty="0"/>
          </a:p>
        </p:txBody>
      </p:sp>
      <p:sp>
        <p:nvSpPr>
          <p:cNvPr id="274" name="Text 272"/>
          <p:cNvSpPr/>
          <p:nvPr/>
        </p:nvSpPr>
        <p:spPr>
          <a:xfrm>
            <a:off x="9802368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5 public datasets into a county feature matrix.</a:t>
            </a:r>
            <a:endParaRPr lang="en-US" sz="500" dirty="0"/>
          </a:p>
        </p:txBody>
      </p:sp>
      <p:sp>
        <p:nvSpPr>
          <p:cNvPr id="275" name="Shape 273"/>
          <p:cNvSpPr/>
          <p:nvPr/>
        </p:nvSpPr>
        <p:spPr>
          <a:xfrm>
            <a:off x="9308592" y="2295144"/>
            <a:ext cx="347472" cy="301752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" name="Text 274"/>
          <p:cNvSpPr/>
          <p:nvPr/>
        </p:nvSpPr>
        <p:spPr>
          <a:xfrm>
            <a:off x="9308592" y="2382012"/>
            <a:ext cx="3474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80" dirty="0"/>
          </a:p>
        </p:txBody>
      </p:sp>
      <p:sp>
        <p:nvSpPr>
          <p:cNvPr id="277" name="Text 275"/>
          <p:cNvSpPr/>
          <p:nvPr/>
        </p:nvSpPr>
        <p:spPr>
          <a:xfrm>
            <a:off x="9802368" y="2313432"/>
            <a:ext cx="17373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 + Scoring</a:t>
            </a:r>
            <a:endParaRPr lang="en-US" sz="700" dirty="0"/>
          </a:p>
        </p:txBody>
      </p:sp>
      <p:sp>
        <p:nvSpPr>
          <p:cNvPr id="278" name="Text 276"/>
          <p:cNvSpPr/>
          <p:nvPr/>
        </p:nvSpPr>
        <p:spPr>
          <a:xfrm>
            <a:off x="9802368" y="2441448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county features and 8-dim weighted scoring.</a:t>
            </a:r>
            <a:endParaRPr lang="en-US" sz="500" dirty="0"/>
          </a:p>
        </p:txBody>
      </p:sp>
      <p:sp>
        <p:nvSpPr>
          <p:cNvPr id="279" name="Shape 277"/>
          <p:cNvSpPr/>
          <p:nvPr/>
        </p:nvSpPr>
        <p:spPr>
          <a:xfrm>
            <a:off x="9308592" y="2779776"/>
            <a:ext cx="347472" cy="301752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0" name="Text 278"/>
          <p:cNvSpPr/>
          <p:nvPr/>
        </p:nvSpPr>
        <p:spPr>
          <a:xfrm>
            <a:off x="9308592" y="2866644"/>
            <a:ext cx="3474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2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80" dirty="0"/>
          </a:p>
        </p:txBody>
      </p:sp>
      <p:sp>
        <p:nvSpPr>
          <p:cNvPr id="281" name="Text 279"/>
          <p:cNvSpPr/>
          <p:nvPr/>
        </p:nvSpPr>
        <p:spPr>
          <a:xfrm>
            <a:off x="9802368" y="2798064"/>
            <a:ext cx="173736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Frontend</a:t>
            </a:r>
            <a:endParaRPr lang="en-US" sz="700" dirty="0"/>
          </a:p>
        </p:txBody>
      </p:sp>
      <p:sp>
        <p:nvSpPr>
          <p:cNvPr id="282" name="Text 280"/>
          <p:cNvSpPr/>
          <p:nvPr/>
        </p:nvSpPr>
        <p:spPr>
          <a:xfrm>
            <a:off x="9802368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Flask API + Leaflet dashboard </a:t>
            </a:r>
          </a:p>
          <a:p>
            <a:pPr marL="0" indent="0" algn="l">
              <a:buNone/>
            </a:pPr>
            <a:r>
              <a:rPr lang="en-US" sz="5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GPT-4o intake.</a:t>
            </a:r>
            <a:endParaRPr lang="en-US" sz="500" dirty="0"/>
          </a:p>
        </p:txBody>
      </p:sp>
      <p:sp>
        <p:nvSpPr>
          <p:cNvPr id="283" name="Shape 281"/>
          <p:cNvSpPr/>
          <p:nvPr/>
        </p:nvSpPr>
        <p:spPr>
          <a:xfrm>
            <a:off x="9052560" y="3429000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4" name="Text 282"/>
          <p:cNvSpPr/>
          <p:nvPr/>
        </p:nvSpPr>
        <p:spPr>
          <a:xfrm>
            <a:off x="9208008" y="3438144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285" name="Text 283"/>
          <p:cNvSpPr/>
          <p:nvPr/>
        </p:nvSpPr>
        <p:spPr>
          <a:xfrm>
            <a:off x="9445752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040" dirty="0"/>
          </a:p>
        </p:txBody>
      </p:sp>
      <p:sp>
        <p:nvSpPr>
          <p:cNvPr id="286" name="Shape 284"/>
          <p:cNvSpPr/>
          <p:nvPr/>
        </p:nvSpPr>
        <p:spPr>
          <a:xfrm>
            <a:off x="9208008" y="3694176"/>
            <a:ext cx="2157984" cy="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7" name="Shape 285"/>
          <p:cNvSpPr/>
          <p:nvPr/>
        </p:nvSpPr>
        <p:spPr>
          <a:xfrm>
            <a:off x="9162288" y="3730752"/>
            <a:ext cx="2295144" cy="502920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8" name="Shape 286"/>
          <p:cNvSpPr/>
          <p:nvPr/>
        </p:nvSpPr>
        <p:spPr>
          <a:xfrm>
            <a:off x="9162288" y="3730752"/>
            <a:ext cx="45720" cy="502920"/>
          </a:xfrm>
          <a:prstGeom prst="rect">
            <a:avLst/>
          </a:prstGeom>
          <a:solidFill>
            <a:srgbClr val="B77AF2"/>
          </a:solidFill>
          <a:ln w="12700">
            <a:solidFill>
              <a:srgbClr val="B77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9" name="Shape 287"/>
          <p:cNvSpPr/>
          <p:nvPr/>
        </p:nvSpPr>
        <p:spPr>
          <a:xfrm>
            <a:off x="9272016" y="3803904"/>
            <a:ext cx="36576" cy="3657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0" name="Shape 288"/>
          <p:cNvSpPr/>
          <p:nvPr/>
        </p:nvSpPr>
        <p:spPr>
          <a:xfrm>
            <a:off x="9345168" y="3803904"/>
            <a:ext cx="36576" cy="36576"/>
          </a:xfrm>
          <a:prstGeom prst="ellipse">
            <a:avLst/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1" name="Shape 289"/>
          <p:cNvSpPr/>
          <p:nvPr/>
        </p:nvSpPr>
        <p:spPr>
          <a:xfrm>
            <a:off x="9418320" y="3803904"/>
            <a:ext cx="36576" cy="3657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2" name="Text 290"/>
          <p:cNvSpPr/>
          <p:nvPr/>
        </p:nvSpPr>
        <p:spPr>
          <a:xfrm>
            <a:off x="9573768" y="3799332"/>
            <a:ext cx="179222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INTAKE</a:t>
            </a:r>
            <a:endParaRPr lang="en-US" sz="480" dirty="0"/>
          </a:p>
        </p:txBody>
      </p:sp>
      <p:sp>
        <p:nvSpPr>
          <p:cNvPr id="293" name="Text 291"/>
          <p:cNvSpPr/>
          <p:nvPr/>
        </p:nvSpPr>
        <p:spPr>
          <a:xfrm>
            <a:off x="9299448" y="3931920"/>
            <a:ext cx="2066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open a tech startup</a:t>
            </a:r>
            <a:endParaRPr lang="en-US" sz="490" dirty="0"/>
          </a:p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Pacific Northwest."</a:t>
            </a:r>
            <a:endParaRPr lang="en-US" sz="490" dirty="0"/>
          </a:p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GPT-4o JSON profile</a:t>
            </a:r>
            <a:endParaRPr lang="en-US" sz="490" dirty="0"/>
          </a:p>
        </p:txBody>
      </p:sp>
      <p:sp>
        <p:nvSpPr>
          <p:cNvPr id="294" name="Shape 292"/>
          <p:cNvSpPr/>
          <p:nvPr/>
        </p:nvSpPr>
        <p:spPr>
          <a:xfrm>
            <a:off x="9162288" y="4297680"/>
            <a:ext cx="2295144" cy="502920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5" name="Shape 293"/>
          <p:cNvSpPr/>
          <p:nvPr/>
        </p:nvSpPr>
        <p:spPr>
          <a:xfrm>
            <a:off x="9162288" y="4297680"/>
            <a:ext cx="45720" cy="502920"/>
          </a:xfrm>
          <a:prstGeom prst="rect">
            <a:avLst/>
          </a:prstGeom>
          <a:solidFill>
            <a:srgbClr val="5AA8FF"/>
          </a:solidFill>
          <a:ln w="12700">
            <a:solidFill>
              <a:srgbClr val="5AA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6" name="Shape 294"/>
          <p:cNvSpPr/>
          <p:nvPr/>
        </p:nvSpPr>
        <p:spPr>
          <a:xfrm>
            <a:off x="9272016" y="4370832"/>
            <a:ext cx="36576" cy="3657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7" name="Shape 295"/>
          <p:cNvSpPr/>
          <p:nvPr/>
        </p:nvSpPr>
        <p:spPr>
          <a:xfrm>
            <a:off x="9345168" y="4370832"/>
            <a:ext cx="36576" cy="36576"/>
          </a:xfrm>
          <a:prstGeom prst="ellipse">
            <a:avLst/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Shape 296"/>
          <p:cNvSpPr/>
          <p:nvPr/>
        </p:nvSpPr>
        <p:spPr>
          <a:xfrm>
            <a:off x="9418320" y="4370832"/>
            <a:ext cx="36576" cy="3657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9" name="Text 297"/>
          <p:cNvSpPr/>
          <p:nvPr/>
        </p:nvSpPr>
        <p:spPr>
          <a:xfrm>
            <a:off x="9573768" y="4366260"/>
            <a:ext cx="179222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 MAP</a:t>
            </a:r>
            <a:endParaRPr lang="en-US" sz="480" dirty="0"/>
          </a:p>
        </p:txBody>
      </p:sp>
      <p:sp>
        <p:nvSpPr>
          <p:cNvPr id="300" name="Text 298"/>
          <p:cNvSpPr/>
          <p:nvPr/>
        </p:nvSpPr>
        <p:spPr>
          <a:xfrm>
            <a:off x="9299448" y="4498848"/>
            <a:ext cx="2066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•    •      •</a:t>
            </a:r>
            <a:endParaRPr lang="en-US" sz="490" dirty="0"/>
          </a:p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•    •</a:t>
            </a:r>
            <a:endParaRPr lang="en-US" sz="490" dirty="0"/>
          </a:p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county pins ranked by score</a:t>
            </a:r>
            <a:endParaRPr lang="en-US" sz="490" dirty="0"/>
          </a:p>
        </p:txBody>
      </p:sp>
      <p:sp>
        <p:nvSpPr>
          <p:cNvPr id="301" name="Shape 299"/>
          <p:cNvSpPr/>
          <p:nvPr/>
        </p:nvSpPr>
        <p:spPr>
          <a:xfrm>
            <a:off x="9162288" y="4864608"/>
            <a:ext cx="2295144" cy="502920"/>
          </a:xfrm>
          <a:prstGeom prst="rect">
            <a:avLst/>
          </a:prstGeom>
          <a:solidFill>
            <a:srgbClr val="18202B"/>
          </a:solidFill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2" name="Shape 300"/>
          <p:cNvSpPr/>
          <p:nvPr/>
        </p:nvSpPr>
        <p:spPr>
          <a:xfrm>
            <a:off x="9162288" y="4864608"/>
            <a:ext cx="45720" cy="502920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3" name="Shape 301"/>
          <p:cNvSpPr/>
          <p:nvPr/>
        </p:nvSpPr>
        <p:spPr>
          <a:xfrm>
            <a:off x="9272016" y="4937760"/>
            <a:ext cx="36576" cy="3657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4" name="Shape 302"/>
          <p:cNvSpPr/>
          <p:nvPr/>
        </p:nvSpPr>
        <p:spPr>
          <a:xfrm>
            <a:off x="9345168" y="4937760"/>
            <a:ext cx="36576" cy="36576"/>
          </a:xfrm>
          <a:prstGeom prst="ellipse">
            <a:avLst/>
          </a:prstGeom>
          <a:solidFill>
            <a:srgbClr val="FFD15C"/>
          </a:solidFill>
          <a:ln w="12700">
            <a:solidFill>
              <a:srgbClr val="FFD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" name="Shape 303"/>
          <p:cNvSpPr/>
          <p:nvPr/>
        </p:nvSpPr>
        <p:spPr>
          <a:xfrm>
            <a:off x="9418320" y="4937760"/>
            <a:ext cx="36576" cy="3657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6" name="Text 304"/>
          <p:cNvSpPr/>
          <p:nvPr/>
        </p:nvSpPr>
        <p:spPr>
          <a:xfrm>
            <a:off x="9573768" y="4933188"/>
            <a:ext cx="179222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A8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CARD</a:t>
            </a:r>
            <a:endParaRPr lang="en-US" sz="480" dirty="0"/>
          </a:p>
        </p:txBody>
      </p:sp>
      <p:sp>
        <p:nvSpPr>
          <p:cNvPr id="307" name="Text 305"/>
          <p:cNvSpPr/>
          <p:nvPr/>
        </p:nvSpPr>
        <p:spPr>
          <a:xfrm>
            <a:off x="9299448" y="5065776"/>
            <a:ext cx="2066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County, WA  ·  Score XX.X</a:t>
            </a:r>
            <a:endParaRPr lang="en-US" sz="490" dirty="0"/>
          </a:p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  ██████  █████</a:t>
            </a:r>
            <a:endParaRPr lang="en-US" sz="490" dirty="0"/>
          </a:p>
          <a:p>
            <a:pPr marL="0" indent="0" algn="l">
              <a:buNone/>
            </a:pPr>
            <a:r>
              <a:rPr lang="en-US" sz="490" dirty="0">
                <a:solidFill>
                  <a:srgbClr val="F2F5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breakdown + explanation</a:t>
            </a:r>
            <a:endParaRPr lang="en-US" sz="490" dirty="0"/>
          </a:p>
        </p:txBody>
      </p:sp>
      <p:sp>
        <p:nvSpPr>
          <p:cNvPr id="308" name="Shape 306"/>
          <p:cNvSpPr/>
          <p:nvPr/>
        </p:nvSpPr>
        <p:spPr>
          <a:xfrm>
            <a:off x="9052560" y="5596128"/>
            <a:ext cx="82296" cy="219456"/>
          </a:xfrm>
          <a:prstGeom prst="rect">
            <a:avLst/>
          </a:prstGeom>
          <a:solidFill>
            <a:srgbClr val="46E381"/>
          </a:solidFill>
          <a:ln w="12700">
            <a:solidFill>
              <a:srgbClr val="46E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" name="Text 307"/>
          <p:cNvSpPr/>
          <p:nvPr/>
        </p:nvSpPr>
        <p:spPr>
          <a:xfrm>
            <a:off x="9208008" y="5605272"/>
            <a:ext cx="219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310" name="Text 308"/>
          <p:cNvSpPr/>
          <p:nvPr/>
        </p:nvSpPr>
        <p:spPr>
          <a:xfrm>
            <a:off x="9445752" y="5568696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· FUTURE</a:t>
            </a:r>
            <a:endParaRPr lang="en-US" sz="1040" dirty="0"/>
          </a:p>
        </p:txBody>
      </p:sp>
      <p:sp>
        <p:nvSpPr>
          <p:cNvPr id="311" name="Shape 309"/>
          <p:cNvSpPr/>
          <p:nvPr/>
        </p:nvSpPr>
        <p:spPr>
          <a:xfrm>
            <a:off x="9208008" y="5861304"/>
            <a:ext cx="2157984" cy="0"/>
          </a:xfrm>
          <a:prstGeom prst="line">
            <a:avLst/>
          </a:prstGeom>
          <a:noFill/>
          <a:ln w="7620">
            <a:solidFill>
              <a:srgbClr val="3642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" name="Text 310"/>
          <p:cNvSpPr/>
          <p:nvPr/>
        </p:nvSpPr>
        <p:spPr>
          <a:xfrm>
            <a:off x="9162288" y="5943600"/>
            <a:ext cx="36576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6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560" dirty="0"/>
          </a:p>
        </p:txBody>
      </p:sp>
      <p:sp>
        <p:nvSpPr>
          <p:cNvPr id="313" name="Text 311"/>
          <p:cNvSpPr/>
          <p:nvPr/>
        </p:nvSpPr>
        <p:spPr>
          <a:xfrm>
            <a:off x="9528048" y="5943600"/>
            <a:ext cx="16916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hand-tuned weights · local Flask only</a:t>
            </a:r>
            <a:endParaRPr lang="en-US" sz="520" dirty="0"/>
          </a:p>
        </p:txBody>
      </p:sp>
      <p:sp>
        <p:nvSpPr>
          <p:cNvPr id="314" name="Text 312"/>
          <p:cNvSpPr/>
          <p:nvPr/>
        </p:nvSpPr>
        <p:spPr>
          <a:xfrm>
            <a:off x="9162288" y="6126480"/>
            <a:ext cx="53035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6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Vintages</a:t>
            </a:r>
            <a:endParaRPr lang="en-US" sz="560" dirty="0"/>
          </a:p>
        </p:txBody>
      </p:sp>
      <p:sp>
        <p:nvSpPr>
          <p:cNvPr id="315" name="Text 313"/>
          <p:cNvSpPr/>
          <p:nvPr/>
        </p:nvSpPr>
        <p:spPr>
          <a:xfrm>
            <a:off x="9701784" y="6126480"/>
            <a:ext cx="169164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LODES ’21 · CBP ’23 · BEA ’24</a:t>
            </a:r>
            <a:endParaRPr lang="en-US" sz="520" dirty="0"/>
          </a:p>
        </p:txBody>
      </p:sp>
      <p:sp>
        <p:nvSpPr>
          <p:cNvPr id="316" name="Text 314"/>
          <p:cNvSpPr/>
          <p:nvPr/>
        </p:nvSpPr>
        <p:spPr>
          <a:xfrm>
            <a:off x="9162288" y="6309360"/>
            <a:ext cx="36576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60" b="1" dirty="0">
                <a:solidFill>
                  <a:srgbClr val="46E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560" dirty="0"/>
          </a:p>
        </p:txBody>
      </p:sp>
      <p:sp>
        <p:nvSpPr>
          <p:cNvPr id="317" name="Text 315"/>
          <p:cNvSpPr/>
          <p:nvPr/>
        </p:nvSpPr>
        <p:spPr>
          <a:xfrm>
            <a:off x="9528048" y="6309360"/>
            <a:ext cx="187452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A8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learning-to-rank · SHAP · refresh pipeline · deployment prep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486</Words>
  <Application>Microsoft Macintosh PowerPoint</Application>
  <PresentationFormat>Widescreen</PresentationFormat>
  <Paragraphs>187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Team P-Pinpoint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P-Pinpoint Poster Final</dc:title>
  <dc:subject>P-Pinpoint technical poster</dc:subject>
  <dc:creator>OpenAI</dc:creator>
  <cp:lastModifiedBy>Zhang, Yang</cp:lastModifiedBy>
  <cp:revision>2</cp:revision>
  <dcterms:created xsi:type="dcterms:W3CDTF">2026-04-27T06:34:32Z</dcterms:created>
  <dcterms:modified xsi:type="dcterms:W3CDTF">2026-04-27T06:59:06Z</dcterms:modified>
</cp:coreProperties>
</file>